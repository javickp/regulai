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ppt/slides/charts/chart1.xml" ContentType="application/vnd.openxmlformats-officedocument.drawingml.chart+xml"/>
  <Default Extension="xlsx" ContentType="application/vnd.openxmlformats-officedocument.spreadsheetml.sheet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Informe económico. Fuente: archivo aportado.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Informe económico. Fuente: archivo aportado.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Informe económico. Fuente: archivo aportado.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4" name="MasterBrand"/>
          <p:cNvSpPr txBox="1"/>
          <p:nvPr/>
        </p:nvSpPr>
        <p:spPr>
          <a:xfrm>
            <a:off x="612000" y="360000"/>
            <a:ext cx="2880000" cy="324000"/>
          </a:xfrm>
          <a:prstGeom prst="rect">
            <a:avLst/>
          </a:prstGeom>
          <a:solidFill>
            <a:srgbClr val="193B45"/>
          </a:solidFill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E4C38E"/>
                </a:solidFill>
                <a:latin typeface="Liberation Sans"/>
              </a:defRPr>
            </a:pPr>
            <a:r>
              <a:t>REGULAY  /  INFORMES</a:t>
            </a:r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../slideLayouts/slideLayout7.xml" Id="rId1" /><Relationship Type="http://schemas.openxmlformats.org/officeDocument/2006/relationships/notesSlide" Target="../notesSlides/notesSlide3.xml" Id="rId2" /><Relationship Type="http://schemas.openxmlformats.org/officeDocument/2006/relationships/chart" Target="/ppt/slides/charts/chart1.xml" Id="Rabfaa5957c35445b" /></Relationships>
</file>

<file path=ppt/slides/charts/_rels/chart1.xml.rels><?xml version='1.0' encoding='UTF-8'?>
<ns0:Relationships xmlns:ns0="http://schemas.openxmlformats.org/package/2006/relationships"><ns0:Relationship Id="regulayData" Type="http://schemas.openxmlformats.org/officeDocument/2006/relationships/package" Target="data.xlsx"/></ns0:Relationships>
</file>

<file path=ppt/slides/charts/chart1.xml><?xml version="1.0" encoding="utf-8"?>
<c:chartSpace xmlns:a="http://schemas.openxmlformats.org/drawingml/2006/main" xmlns:c="http://schemas.openxmlformats.org/drawingml/2006/chart">
  <c:date1904 val="0"/>
  <c:lang val="es-ES"/>
  <c:chart>
    <c:plotArea>
      <c:layout/>
      <c:barChart>
        <c:barDir val="bar"/>
        <c:grouping val="clustered"/>
        <c:varyColors val="0"/>
        <c:ser>
          <c:idx val="0"/>
          <c:order val="0"/>
          <c:tx>
            <c:v>Importe (€)</c:v>
          </c:tx>
          <c:spPr>
            <a:solidFill xmlns:a="http://schemas.openxmlformats.org/drawingml/2006/main">
              <a:srgbClr val="326D72"/>
            </a:solidFill>
          </c:spPr>
          <c:invertIfNegative val="0"/>
          <c:cat>
            <c:strLit>
              <c:ptCount val="3"/>
              <c:pt idx="0">
                <c:v>Año</c:v>
              </c:pt>
              <c:pt idx="1">
                <c:v>Acción</c:v>
              </c:pt>
              <c:pt idx="2">
                <c:v>Piñón</c:v>
              </c:pt>
            </c:strLit>
          </c:cat>
          <c:val>
            <c:numLit>
              <c:formatCode>General</c:formatCode>
              <c:ptCount val="3"/>
              <c:pt idx="0">
                <c:v>1.25</c:v>
              </c:pt>
              <c:pt idx="1">
                <c:v>2.5</c:v>
              </c:pt>
              <c:pt idx="2">
                <c:v>3.75</c:v>
              </c:pt>
            </c:numLit>
          </c:val>
        </c:ser>
        <c:dLbls>
          <c:dLbl>
            <c:idx val="0"/>
            <c:tx>
              <c:rich>
                <a:bodyPr/>
                <a:lstStyle/>
                <a:p>
                  <a:r>
                    <a:rPr lang="es-ES" sz="1400">
                      <a:solidFill>
                        <a:srgbClr val="193B45"/>
                      </a:solidFill>
                      <a:latin typeface="Liberation Sans"/>
                    </a:rPr>
                    <a:t>1,25 €</a:t>
                  </a:r>
                </a:p>
              </c:rich>
            </c:tx>
            <c:dLblPos val="outEnd"/>
            <c:showVal val="0"/>
          </c:dLbl>
          <c:dLbl>
            <c:idx val="1"/>
            <c:tx>
              <c:rich>
                <a:bodyPr/>
                <a:lstStyle/>
                <a:p>
                  <a:r>
                    <a:rPr lang="es-ES" sz="1400">
                      <a:solidFill>
                        <a:srgbClr val="193B45"/>
                      </a:solidFill>
                      <a:latin typeface="Liberation Sans"/>
                    </a:rPr>
                    <a:t>2,50 €</a:t>
                  </a:r>
                </a:p>
              </c:rich>
            </c:tx>
            <c:dLblPos val="outEnd"/>
            <c:showVal val="0"/>
          </c:dLbl>
          <c:dLbl>
            <c:idx val="2"/>
            <c:tx>
              <c:rich>
                <a:bodyPr/>
                <a:lstStyle/>
                <a:p>
                  <a:r>
                    <a:rPr lang="es-ES" sz="1400">
                      <a:solidFill>
                        <a:srgbClr val="193B45"/>
                      </a:solidFill>
                      <a:latin typeface="Liberation Sans"/>
                    </a:rPr>
                    <a:t>3,75 €</a:t>
                  </a:r>
                </a:p>
              </c:rich>
            </c:tx>
            <c:dLblPos val="outEnd"/>
            <c:showVal val="0"/>
          </c:dLbl>
          <c:showLegendKey val="0"/>
          <c:showVal val="1"/>
          <c:showCatName val="0"/>
          <c:showSerName val="0"/>
          <c:showPercent val="0"/>
        </c:dLbls>
        <c:gapWidth val="150"/>
        <c:axId val="1"/>
        <c:axId val="2"/>
      </c:barChart>
      <c:catAx>
        <c:axId val="1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93B45"/>
                </a:solidFill>
                <a:latin typeface="Liberation Sans"/>
                <a:ea typeface="Liberation Sans"/>
              </a:defRPr>
            </a:pPr>
          </a:p>
        </c:txPr>
        <c:crossAx val="2"/>
        <c:crosses val="autoZero"/>
        <c:auto val="1"/>
        <c:lblAlgn val="ctr"/>
        <c:lblOffset val="100"/>
      </c:catAx>
      <c:valAx>
        <c:axId val="2"/>
        <c:scaling>
          <c:orientation val="minMax"/>
          <c:max val="4.875"/>
        </c:scaling>
        <c:delete val="1"/>
        <c:axPos val="l"/>
        <c:numFmt formatCode="General" sourceLinked="1"/>
        <c:majorTickMark val="out"/>
        <c:minorTickMark val="none"/>
        <c:tickLblPos val="nextTo"/>
        <c:txPr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93B45"/>
                </a:solidFill>
                <a:latin typeface="Liberation Sans"/>
                <a:ea typeface="Liberation Sans"/>
              </a:defRPr>
            </a:pPr>
          </a:p>
        </c:txPr>
        <c:crossAx val="1"/>
        <c:crosses val="autoZero"/>
        <c:crossBetween val="between"/>
      </c:valAx>
    </c:plotArea>
    <c:plotVisOnly val="1"/>
    <c:dispBlanksAs val="gap"/>
  </c:chart>
  <c:externalData xmlns:r="http://schemas.openxmlformats.org/officeDocument/2006/relationships" r:id="regulayData">
    <c:autoUpdate val="0"/>
  </c:externalData>
</c:chartSpace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3B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12000" y="1080000"/>
            <a:ext cx="6840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200">
                <a:solidFill>
                  <a:srgbClr val="FFFFFF"/>
                </a:solidFill>
                <a:latin typeface="Liberation Serif"/>
              </a:defRPr>
            </a:pPr>
            <a:r>
              <a:t>Informe económico de España</a:t>
            </a:r>
          </a:p>
        </p:txBody>
      </p:sp>
      <p:sp>
        <p:nvSpPr>
          <p:cNvPr id="3" name="Footer"/>
          <p:cNvSpPr txBox="1"/>
          <p:nvPr/>
        </p:nvSpPr>
        <p:spPr>
          <a:xfrm>
            <a:off x="612000" y="6120000"/>
            <a:ext cx="1080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B9CDCE"/>
                </a:solidFill>
                <a:latin typeface="Liberation Sans"/>
              </a:defRPr>
            </a:pPr>
            <a:r>
              <a:t>01  /  REGULAY · Informe económico</a:t>
            </a:r>
          </a:p>
        </p:txBody>
      </p:sp>
      <p:sp>
        <p:nvSpPr>
          <p:cNvPr id="100000" name="Body"/>
          <p:cNvSpPr txBox="1"/>
          <p:nvPr/>
        </p:nvSpPr>
        <p:spPr>
          <a:xfrm>
            <a:off x="612000" y="3600000"/>
            <a:ext cx="6480000" cy="144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2200">
                <a:solidFill>
                  <a:srgbClr val="D8E5E5"/>
                </a:solidFill>
                <a:latin typeface="Liberation Sans"/>
                <a:ea typeface="Liberation Sans"/>
              </a:rPr>
              <a:t>Datos económicos de España</a:t>
            </a:r>
          </a:p>
          <a:p>
            <a:r>
              <a:rPr lang="en-US" sz="2200">
                <a:solidFill>
                  <a:srgbClr val="D8E5E5"/>
                </a:solidFill>
                <a:latin typeface="Liberation Sans"/>
                <a:ea typeface="Liberation Sans"/>
              </a:rPr>
              <a:t>Desglose y revisión de importes</a:t>
            </a:r>
          </a:p>
        </p:txBody>
      </p:sp>
      <p:sp>
        <p:nvSpPr>
          <p:cNvPr id="100001" name="Total"/>
          <p:cNvSpPr txBox="1"/>
          <p:nvPr/>
        </p:nvSpPr>
        <p:spPr>
          <a:xfrm>
            <a:off x="7920000" y="2160000"/>
            <a:ext cx="3600000" cy="1332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4200">
                <a:solidFill>
                  <a:srgbClr val="E4C38E"/>
                </a:solidFill>
                <a:latin typeface="Liberation Serif"/>
                <a:ea typeface="Liberation Serif"/>
              </a:rPr>
              <a:t>7,50 €</a:t>
            </a:r>
          </a:p>
        </p:txBody>
      </p:sp>
      <p:sp>
        <p:nvSpPr>
          <p:cNvPr id="100002" name="TotalLabel"/>
          <p:cNvSpPr txBox="1"/>
          <p:nvPr/>
        </p:nvSpPr>
        <p:spPr>
          <a:xfrm>
            <a:off x="7920000" y="3168000"/>
            <a:ext cx="3600000" cy="396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400">
                <a:solidFill>
                  <a:srgbClr val="D8E5E5"/>
                </a:solidFill>
                <a:latin typeface="Liberation Sans"/>
                <a:ea typeface="Liberation Sans"/>
              </a:rPr>
              <a:t>IMPORTE TOTAL</a:t>
            </a:r>
          </a:p>
        </p:txBody>
      </p:sp>
      <p:sp>
        <p:nvSpPr>
          <p:cNvPr id="100003" name="Count"/>
          <p:cNvSpPr txBox="1"/>
          <p:nvPr/>
        </p:nvSpPr>
        <p:spPr>
          <a:xfrm>
            <a:off x="7920000" y="3960000"/>
            <a:ext cx="3600000" cy="468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2000">
                <a:solidFill>
                  <a:srgbClr val="D8E5E5"/>
                </a:solidFill>
                <a:latin typeface="Liberation Sans"/>
                <a:ea typeface="Liberation Sans"/>
              </a:rPr>
              <a:t>3 conceptos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12000" y="1080000"/>
            <a:ext cx="108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solidFill>
                  <a:srgbClr val="193B45"/>
                </a:solidFill>
                <a:latin typeface="Liberation Serif"/>
              </a:defRPr>
            </a:pPr>
            <a:r>
              <a:t>Detalle de importes</a:t>
            </a:r>
          </a:p>
        </p:txBody>
      </p:sp>
      <p:sp>
        <p:nvSpPr>
          <p:cNvPr id="3" name="Footer"/>
          <p:cNvSpPr txBox="1"/>
          <p:nvPr/>
        </p:nvSpPr>
        <p:spPr>
          <a:xfrm>
            <a:off x="612000" y="6120000"/>
            <a:ext cx="1080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0797E"/>
                </a:solidFill>
                <a:latin typeface="Liberation Sans"/>
              </a:defRPr>
            </a:pPr>
            <a:r>
              <a:t>02  /  REGULAY · Informe económico</a:t>
            </a:r>
          </a:p>
        </p:txBody>
      </p:sp>
      <p:graphicFrame>
        <p:nvGraphicFramePr>
          <p:cNvPr id="100004" name="Table 1"/>
          <p:cNvGraphicFramePr/>
          <p:nvPr/>
        </p:nvGraphicFramePr>
        <p:xfrm>
          <a:off x="612000" y="2160000"/>
          <a:ext cx="10800000" cy="2880000"/>
        </p:xfrm>
        <a:graphic>
          <a:graphicData uri="http://schemas.openxmlformats.org/drawingml/2006/table">
            <a:tbl>
              <a:tblPr firstRow="1" bandRow="1"/>
              <a:tblGrid>
                <a:gridCol w="7920000"/>
                <a:gridCol w="2880000"/>
              </a:tblGrid>
              <a:tr h="576000">
                <a:tc>
                  <a:txBody>
                    <a:bodyPr/>
                    <a:lstStyle/>
                    <a:p>
                      <a:r>
                        <a:rPr lang="en-US" sz="2000" b="1">
                          <a:solidFill>
                            <a:srgbClr val="FFFFFF"/>
                          </a:solidFill>
                          <a:latin typeface="Liberation Sans"/>
                          <a:ea typeface="Liberation Sans"/>
                        </a:rPr>
                        <a:t>Concepto</a:t>
                      </a:r>
                      <a:endParaRPr 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7E2E1"/>
                      </a:solidFill>
                      <a:prstDash val="solid"/>
                    </a:lnB>
                    <a:solidFill>
                      <a:srgbClr val="193B4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b="1">
                          <a:solidFill>
                            <a:srgbClr val="FFFFFF"/>
                          </a:solidFill>
                          <a:latin typeface="Liberation Sans"/>
                          <a:ea typeface="Liberation Sans"/>
                        </a:rPr>
                        <a:t>Importe (€)</a:t>
                      </a:r>
                      <a:endParaRPr 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7E2E1"/>
                      </a:solidFill>
                      <a:prstDash val="solid"/>
                    </a:lnB>
                    <a:solidFill>
                      <a:srgbClr val="193B45"/>
                    </a:solidFill>
                  </a:tcPr>
                </a:tc>
              </a:tr>
              <a:tr h="576000">
                <a:tc>
                  <a:txBody>
                    <a:bodyPr/>
                    <a:lstStyle/>
                    <a:p>
                      <a:r>
                        <a:rPr lang="en-US" sz="2000">
                          <a:solidFill>
                            <a:srgbClr val="193B45"/>
                          </a:solidFill>
                          <a:latin typeface="Liberation Sans"/>
                          <a:ea typeface="Liberation Sans"/>
                        </a:rPr>
                        <a:t>Año</a:t>
                      </a:r>
                      <a:endParaRPr 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D7E2E1"/>
                      </a:solidFill>
                      <a:prstDash val="solid"/>
                    </a:lnT>
                    <a:lnB w="6350">
                      <a:solidFill>
                        <a:srgbClr val="D7E2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>
                          <a:solidFill>
                            <a:srgbClr val="193B45"/>
                          </a:solidFill>
                          <a:latin typeface="Liberation Sans"/>
                          <a:ea typeface="Liberation Sans"/>
                        </a:rPr>
                        <a:t>1,25 €</a:t>
                      </a:r>
                      <a:endParaRPr 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D7E2E1"/>
                      </a:solidFill>
                      <a:prstDash val="solid"/>
                    </a:lnT>
                    <a:lnB w="6350">
                      <a:solidFill>
                        <a:srgbClr val="D7E2E1"/>
                      </a:solidFill>
                      <a:prstDash val="solid"/>
                    </a:lnB>
                  </a:tcPr>
                </a:tc>
              </a:tr>
              <a:tr h="576000">
                <a:tc>
                  <a:txBody>
                    <a:bodyPr/>
                    <a:lstStyle/>
                    <a:p>
                      <a:r>
                        <a:rPr lang="en-US" sz="2000">
                          <a:solidFill>
                            <a:srgbClr val="193B45"/>
                          </a:solidFill>
                          <a:latin typeface="Liberation Sans"/>
                          <a:ea typeface="Liberation Sans"/>
                        </a:rPr>
                        <a:t>Acción</a:t>
                      </a:r>
                      <a:endParaRPr 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D7E2E1"/>
                      </a:solidFill>
                      <a:prstDash val="solid"/>
                    </a:lnT>
                    <a:lnB w="6350">
                      <a:solidFill>
                        <a:srgbClr val="D7E2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>
                          <a:solidFill>
                            <a:srgbClr val="193B45"/>
                          </a:solidFill>
                          <a:latin typeface="Liberation Sans"/>
                          <a:ea typeface="Liberation Sans"/>
                        </a:rPr>
                        <a:t>2,50 €</a:t>
                      </a:r>
                      <a:endParaRPr 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D7E2E1"/>
                      </a:solidFill>
                      <a:prstDash val="solid"/>
                    </a:lnT>
                    <a:lnB w="6350">
                      <a:solidFill>
                        <a:srgbClr val="D7E2E1"/>
                      </a:solidFill>
                      <a:prstDash val="solid"/>
                    </a:lnB>
                  </a:tcPr>
                </a:tc>
              </a:tr>
              <a:tr h="576000">
                <a:tc>
                  <a:txBody>
                    <a:bodyPr/>
                    <a:lstStyle/>
                    <a:p>
                      <a:r>
                        <a:rPr lang="en-US" sz="2000">
                          <a:solidFill>
                            <a:srgbClr val="193B45"/>
                          </a:solidFill>
                          <a:latin typeface="Liberation Sans"/>
                          <a:ea typeface="Liberation Sans"/>
                        </a:rPr>
                        <a:t>Piñón</a:t>
                      </a:r>
                      <a:endParaRPr 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D7E2E1"/>
                      </a:solidFill>
                      <a:prstDash val="solid"/>
                    </a:lnT>
                    <a:lnB w="6350">
                      <a:solidFill>
                        <a:srgbClr val="D7E2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>
                          <a:solidFill>
                            <a:srgbClr val="193B45"/>
                          </a:solidFill>
                          <a:latin typeface="Liberation Sans"/>
                          <a:ea typeface="Liberation Sans"/>
                        </a:rPr>
                        <a:t>3,75 €</a:t>
                      </a:r>
                      <a:endParaRPr 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D7E2E1"/>
                      </a:solidFill>
                      <a:prstDash val="solid"/>
                    </a:lnT>
                    <a:lnB w="6350">
                      <a:solidFill>
                        <a:srgbClr val="D7E2E1"/>
                      </a:solidFill>
                      <a:prstDash val="solid"/>
                    </a:lnB>
                  </a:tcPr>
                </a:tc>
              </a:tr>
              <a:tr h="576000">
                <a:tc>
                  <a:txBody>
                    <a:bodyPr/>
                    <a:lstStyle/>
                    <a:p>
                      <a:r>
                        <a:rPr lang="en-US" sz="2000" b="1">
                          <a:solidFill>
                            <a:srgbClr val="193B45"/>
                          </a:solidFill>
                          <a:latin typeface="Liberation Sans"/>
                          <a:ea typeface="Liberation Sans"/>
                        </a:rPr>
                        <a:t>Total</a:t>
                      </a:r>
                      <a:endParaRPr 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D7E2E1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DDEBE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b="1">
                          <a:solidFill>
                            <a:srgbClr val="193B45"/>
                          </a:solidFill>
                          <a:latin typeface="Liberation Sans"/>
                          <a:ea typeface="Liberation Sans"/>
                        </a:rPr>
                        <a:t>7,50 €</a:t>
                      </a:r>
                      <a:endParaRPr 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D7E2E1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DDEBE9"/>
                    </a:solidFill>
                  </a:tcPr>
                </a:tc>
              </a:tr>
            </a:tbl>
          </a:graphicData>
        </a:graphic>
      </p:graphicFrame>
      <p:sp>
        <p:nvSpPr>
          <p:cNvPr id="100005" name="Body"/>
          <p:cNvSpPr txBox="1"/>
          <p:nvPr/>
        </p:nvSpPr>
        <p:spPr>
          <a:xfrm>
            <a:off x="612000" y="5400000"/>
            <a:ext cx="10800000" cy="54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800">
                <a:solidFill>
                  <a:srgbClr val="326D72"/>
                </a:solidFill>
                <a:latin typeface="Liberation Sans"/>
                <a:ea typeface="Liberation Sans"/>
              </a:rPr>
              <a:t>Fuente: archivo aportado · Suma calculada en céntimos</a:t>
            </a:r>
          </a:p>
        </p:txBody>
      </p:sp>
    </p:spTree>
  </p:cSld>
  <p:clrMapOvr>
    <a:masterClrMapping/>
  </p:clrMapOvr>
</p:sld>
</file>

<file path=ppt/slides/slide3.xml><?xml version="1.0" encoding="utf-8"?>
<p:sld xmlns:c="http://schemas.openxmlformats.org/drawingml/2006/chart"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12000" y="1080000"/>
            <a:ext cx="108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solidFill>
                  <a:srgbClr val="193B45"/>
                </a:solidFill>
                <a:latin typeface="Liberation Serif"/>
              </a:defRPr>
            </a:pPr>
            <a:r>
              <a:t>Distribución por concepto</a:t>
            </a:r>
          </a:p>
        </p:txBody>
      </p:sp>
      <p:sp>
        <p:nvSpPr>
          <p:cNvPr id="3" name="Footer"/>
          <p:cNvSpPr txBox="1"/>
          <p:nvPr/>
        </p:nvSpPr>
        <p:spPr>
          <a:xfrm>
            <a:off x="612000" y="6120000"/>
            <a:ext cx="1080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0797E"/>
                </a:solidFill>
                <a:latin typeface="Liberation Sans"/>
              </a:defRPr>
            </a:pPr>
            <a:r>
              <a:t>03  /  REGULAY · Informe económico</a:t>
            </a:r>
          </a:p>
        </p:txBody>
      </p:sp>
      <p:graphicFrame>
        <p:nvGraphicFramePr>
          <p:cNvPr id="100006" name="Chart 1"/>
          <p:cNvGraphicFramePr/>
          <p:nvPr/>
        </p:nvGraphicFramePr>
        <p:xfrm>
          <a:off x="612000" y="2160000"/>
          <a:ext cx="6480000" cy="3600000"/>
        </p:xfrm>
        <a:graphic>
          <a:graphicData uri="http://schemas.openxmlformats.org/drawingml/2006/chart">
            <c:chart xmlns:c="http://schemas.openxmlformats.org/drawingml/2006/chart" r:id="Rabfaa5957c35445b"/>
          </a:graphicData>
        </a:graphic>
      </p:graphicFrame>
      <p:sp>
        <p:nvSpPr>
          <p:cNvPr id="100007" name="Body"/>
          <p:cNvSpPr txBox="1"/>
          <p:nvPr/>
        </p:nvSpPr>
        <p:spPr>
          <a:xfrm>
            <a:off x="7560000" y="2160000"/>
            <a:ext cx="3960000" cy="360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800">
                <a:solidFill>
                  <a:srgbClr val="193B45"/>
                </a:solidFill>
                <a:latin typeface="Liberation Sans"/>
                <a:ea typeface="Liberation Sans"/>
              </a:rPr>
              <a:t>Análisis sintético: año, acción, piñón y 1.250,00 €. Revisar los importes antes de utilizar el informe.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1.0.155</vt:lpwstr>
  </op:property>
  <op:property fmtid="{D5CDD505-2E9C-101B-9397-08002B2CF9AE}" pid="3" name="OfficeCLI.LastModified">
    <vt:lpwstr xmlns:vt="http://schemas.openxmlformats.org/officeDocument/2006/docPropsVTypes">2026-10-13T15:08:13Z</vt:lpwstr>
  </op:property>
</op:Properties>
</file>