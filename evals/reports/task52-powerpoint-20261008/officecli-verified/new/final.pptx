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charts/chart1.xml" ContentType="application/vnd.openxmlformats-officedocument.drawingml.char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423516ce7d844c8" /><Relationship Type="http://schemas.openxmlformats.org/package/2006/relationships/metadata/core-properties" Target="/docProps/core.xml" Id="Re6b6f22a8f61439d" /><Relationship Type="http://schemas.openxmlformats.org/officeDocument/2006/relationships/extended-properties" Target="/docProps/app.xml" Id="R6c4e604c6d3e4619" /><Relationship Type="http://schemas.openxmlformats.org/officeDocument/2006/relationships/custom-properties" Target="/docProps/custom.xml" Id="R637c6cba50bc4712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0e813cb8efe74bb6"/>
  </p:notesMasterIdLst>
  <p:sldIdLst>
    <p:sldId id="256" r:id="R4c729fdc60d54090"/>
    <p:sldId id="257" r:id="R44f1f04438eb4e1c"/>
    <p:sldId id="258" r:id="R79abfe5762ea4a82"/>
  </p:sldIdLst>
  <p:sldSz cx="12192000" cy="6858000" type="screen16x9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4c729fdc60d54090" /><Relationship Type="http://schemas.openxmlformats.org/officeDocument/2006/relationships/notesMaster" Target="/ppt/notesMasters/notesMaster1.xml" Id="R0e813cb8efe74bb6" /><Relationship Type="http://schemas.openxmlformats.org/officeDocument/2006/relationships/slide" Target="/ppt/slides/slide2.xml" Id="R44f1f04438eb4e1c" /><Relationship Type="http://schemas.openxmlformats.org/officeDocument/2006/relationships/slide" Target="/ppt/slides/slide3.xml" Id="R79abfe5762ea4a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672c537917c4aa3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b7f7138b93440b4" /><Relationship Type="http://schemas.openxmlformats.org/officeDocument/2006/relationships/slide" Target="/ppt/slides/slide1.xml" Id="Rf6151c877eaa47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bf799f2acbb4c72" /><Relationship Type="http://schemas.openxmlformats.org/officeDocument/2006/relationships/slide" Target="/ppt/slides/slide2.xml" Id="Rad46583d3a0e4e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cec4b14638a44ba" /><Relationship Type="http://schemas.openxmlformats.org/officeDocument/2006/relationships/slide" Target="/ppt/slides/slide3.xml" Id="Rf7657eaecc984274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Datos sintéticos para comprobar conservación, edición y render final.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Datos sintéticos para comprobar conservación, edición y render final.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Datos sintéticos para comprobar conservación, edición y render final.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73c11a919a408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0caaa02587428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20efbd14a6473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0d806207de425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361399995842b0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27e1de4e54b64be7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77da63a7f74013" /><Relationship Type="http://schemas.openxmlformats.org/officeDocument/2006/relationships/notesSlide" Target="/ppt/notesSlides/notesSlide1.xml" Id="Re12a69c4ae9b4a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740867608b43d6" /><Relationship Type="http://schemas.openxmlformats.org/officeDocument/2006/relationships/notesSlide" Target="/ppt/notesSlides/notesSlide2.xml" Id="R6d9366a5cedc4e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1558c4bf634cee" /><Relationship Type="http://schemas.openxmlformats.org/officeDocument/2006/relationships/notesSlide" Target="/ppt/notesSlides/notesSlide3.xml" Id="Ra9295eb6f5fd4de1" /><Relationship Type="http://schemas.openxmlformats.org/officeDocument/2006/relationships/chart" Target="/ppt/slides/charts/chart1.xml" Id="Re53ef729f81f4bd2" /></Relationships>
</file>

<file path=ppt/slides/charts/chart1.xml><?xml version="1.0" encoding="utf-8"?>
<c:chartSpace xmlns:a="http://schemas.openxmlformats.org/drawingml/2006/main" xmlns:c="http://schemas.openxmlformats.org/drawingml/2006/chart">
  <c:date1904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Importe (€)</c:v>
          </c:tx>
          <c:spPr>
            <a:solidFill xmlns:a="http://schemas.openxmlformats.org/drawingml/2006/main">
              <a:srgbClr val="17365D"/>
            </a:solidFill>
          </c:spPr>
          <c:invertIfNegative val="0"/>
          <c:cat>
            <c:strLit>
              <c:ptCount val="3"/>
              <c:pt idx="0">
                <c:v>1</c:v>
              </c:pt>
              <c:pt idx="1">
                <c:v>2</c:v>
              </c:pt>
              <c:pt idx="2">
                <c:v>3</c:v>
              </c:pt>
            </c:strLit>
          </c:cat>
          <c:val>
            <c:numLit>
              <c:formatCode>General</c:formatCode>
              <c:ptCount val="3"/>
              <c:pt idx="0">
                <c:v>1.25</c:v>
              </c:pt>
              <c:pt idx="1">
                <c:v>2.5</c:v>
              </c:pt>
              <c:pt idx="2">
                <c:v>3.75</c:v>
              </c:pt>
            </c:numLit>
          </c:val>
        </c:ser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0" name="Brand"/>
          <p:cNvSpPr txBox="1"/>
          <p:nvPr/>
        </p:nvSpPr>
        <p:spPr>
          <a:xfrm>
            <a:off x="540000" y="432000"/>
            <a:ext cx="1044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17365D"/>
                </a:solidFill>
                <a:latin typeface="Liberation Sans"/>
                <a:ea typeface="Liberation Sans"/>
              </a:rPr>
              <a:t>REGULAY · ÁREA TÉCNICA</a:t>
            </a:r>
          </a:p>
        </p:txBody>
      </p:sp>
      <p:sp>
        <p:nvSpPr>
          <p:cNvPr id="100001" name="Title"/>
          <p:cNvSpPr txBox="1"/>
          <p:nvPr/>
        </p:nvSpPr>
        <p:spPr>
          <a:xfrm>
            <a:off x="540000" y="972000"/>
            <a:ext cx="10800000" cy="10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600">
                <a:solidFill>
                  <a:srgbClr val="17365D"/>
                </a:solidFill>
                <a:latin typeface="Liberation Sans"/>
                <a:ea typeface="Liberation Sans"/>
              </a:rPr>
              <a:t>Informe económico de España</a:t>
            </a:r>
          </a:p>
        </p:txBody>
      </p:sp>
      <p:sp>
        <p:nvSpPr>
          <p:cNvPr id="100002" name="Footer"/>
          <p:cNvSpPr txBox="1"/>
          <p:nvPr/>
        </p:nvSpPr>
        <p:spPr>
          <a:xfrm>
            <a:off x="540000" y="6048000"/>
            <a:ext cx="1044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17365D"/>
                </a:solidFill>
                <a:latin typeface="Liberation Sans"/>
                <a:ea typeface="Liberation Sans"/>
              </a:rPr>
              <a:t>1 · Informe sintético · 2026</a:t>
            </a:r>
          </a:p>
        </p:txBody>
      </p:sp>
      <p:sp>
        <p:nvSpPr>
          <p:cNvPr id="100009" name="Body"/>
          <p:cNvSpPr txBox="1"/>
          <p:nvPr/>
        </p:nvSpPr>
        <p:spPr>
          <a:xfrm>
            <a:off x="540000" y="2160000"/>
            <a:ext cx="10800000" cy="14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400">
                <a:solidFill>
                  <a:srgbClr val="17365D"/>
                </a:solidFill>
                <a:latin typeface="Liberation Sans"/>
                <a:ea typeface="Liberation Sans"/>
              </a:rPr>
              <a:t>Resumen de importes en euros. Año 2026: España, ñ, €, £ y $.</a:t>
            </a:r>
          </a:p>
        </p:txBody>
      </p:sp>
      <p:sp>
        <p:nvSpPr>
          <p:cNvPr id="100010" name="Total"/>
          <p:cNvSpPr txBox="1"/>
          <p:nvPr/>
        </p:nvSpPr>
        <p:spPr>
          <a:xfrm>
            <a:off x="540000" y="3960000"/>
            <a:ext cx="7200000" cy="10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6000">
                <a:solidFill>
                  <a:srgbClr val="17365D"/>
                </a:solidFill>
                <a:latin typeface="Liberation Sans"/>
                <a:ea typeface="Liberation Sans"/>
              </a:rPr>
              <a:t>7,50 €</a:t>
            </a:r>
          </a:p>
        </p:txBody>
      </p:sp>
      <p:sp>
        <p:nvSpPr>
          <p:cNvPr id="100011" name="TotalLabel"/>
          <p:cNvSpPr txBox="1"/>
          <p:nvPr/>
        </p:nvSpPr>
        <p:spPr>
          <a:xfrm>
            <a:off x="540000" y="5112000"/>
            <a:ext cx="9000000" cy="46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000">
                <a:solidFill>
                  <a:srgbClr val="17365D"/>
                </a:solidFill>
                <a:latin typeface="Liberation Sans"/>
                <a:ea typeface="Liberation Sans"/>
              </a:rPr>
              <a:t>Total de los tres conceptos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3" name="Brand"/>
          <p:cNvSpPr txBox="1"/>
          <p:nvPr/>
        </p:nvSpPr>
        <p:spPr>
          <a:xfrm>
            <a:off x="540000" y="432000"/>
            <a:ext cx="1044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17365D"/>
                </a:solidFill>
                <a:latin typeface="Liberation Sans"/>
                <a:ea typeface="Liberation Sans"/>
              </a:rPr>
              <a:t>REGULAY · ÁREA TÉCNICA</a:t>
            </a:r>
          </a:p>
        </p:txBody>
      </p:sp>
      <p:sp>
        <p:nvSpPr>
          <p:cNvPr id="100004" name="Title"/>
          <p:cNvSpPr txBox="1"/>
          <p:nvPr/>
        </p:nvSpPr>
        <p:spPr>
          <a:xfrm>
            <a:off x="540000" y="972000"/>
            <a:ext cx="10800000" cy="10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600">
                <a:solidFill>
                  <a:srgbClr val="17365D"/>
                </a:solidFill>
                <a:latin typeface="Liberation Sans"/>
                <a:ea typeface="Liberation Sans"/>
              </a:rPr>
              <a:t>Importes por concepto</a:t>
            </a:r>
          </a:p>
        </p:txBody>
      </p:sp>
      <p:sp>
        <p:nvSpPr>
          <p:cNvPr id="100005" name="Footer"/>
          <p:cNvSpPr txBox="1"/>
          <p:nvPr/>
        </p:nvSpPr>
        <p:spPr>
          <a:xfrm>
            <a:off x="540000" y="6048000"/>
            <a:ext cx="1044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17365D"/>
                </a:solidFill>
                <a:latin typeface="Liberation Sans"/>
                <a:ea typeface="Liberation Sans"/>
              </a:rPr>
              <a:t>2 · Informe sintético · 2026</a:t>
            </a:r>
          </a:p>
        </p:txBody>
      </p:sp>
      <p:graphicFrame>
        <p:nvGraphicFramePr>
          <p:cNvPr id="100012" name="Table 1"/>
          <p:cNvGraphicFramePr/>
          <p:nvPr/>
        </p:nvGraphicFramePr>
        <p:xfrm>
          <a:off x="540000" y="2160000"/>
          <a:ext cx="10800000" cy="3060000"/>
        </p:xfrm>
        <a:graphic>
          <a:graphicData uri="http://schemas.openxmlformats.org/drawingml/2006/table">
            <a:tbl>
              <a:tblPr firstRow="1" bandRow="1"/>
              <a:tblGrid>
                <a:gridCol w="5400000"/>
                <a:gridCol w="5400000"/>
              </a:tblGrid>
              <a:tr h="612000">
                <a:tc>
                  <a:txBody>
                    <a:bodyPr/>
                    <a:lstStyle/>
                    <a:p>
                      <a:r>
                        <a:rPr lang="en-US" sz="2200">
                          <a:latin typeface="Liberation Sans"/>
                          <a:ea typeface="Liberation Sans"/>
                        </a:rPr>
                        <a:t>Concepto</a:t>
                      </a:r>
                      <a:endParaRPr lang="en-US"/>
                    </a:p>
                  </a:txBody>
                  <a:tcPr>
                    <a:solidFill>
                      <a:srgbClr val="D6E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Liberation Sans"/>
                          <a:ea typeface="Liberation Sans"/>
                        </a:rPr>
                        <a:t>Importe (€)</a:t>
                      </a:r>
                      <a:endParaRPr lang="en-US"/>
                    </a:p>
                  </a:txBody>
                  <a:tcPr>
                    <a:solidFill>
                      <a:srgbClr val="D6E2EE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r>
                        <a:rPr lang="en-US" sz="2200">
                          <a:latin typeface="Liberation Sans"/>
                          <a:ea typeface="Liberation Sans"/>
                        </a:rPr>
                        <a:t>Área Norte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Liberation Sans"/>
                          <a:ea typeface="Liberation Sans"/>
                        </a:rPr>
                        <a:t>1.25 €</a:t>
                      </a:r>
                      <a:endParaRPr lang="en-US"/>
                    </a:p>
                  </a:txBody>
                  <a:tcPr/>
                </a:tc>
              </a:tr>
              <a:tr h="612000">
                <a:tc>
                  <a:txBody>
                    <a:bodyPr/>
                    <a:lstStyle/>
                    <a:p>
                      <a:r>
                        <a:rPr lang="en-US" sz="2200">
                          <a:latin typeface="Liberation Sans"/>
                          <a:ea typeface="Liberation Sans"/>
                        </a:rPr>
                        <a:t>Piñón español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Liberation Sans"/>
                          <a:ea typeface="Liberation Sans"/>
                        </a:rPr>
                        <a:t>2.50 €</a:t>
                      </a:r>
                      <a:endParaRPr lang="en-US"/>
                    </a:p>
                  </a:txBody>
                  <a:tcPr/>
                </a:tc>
              </a:tr>
              <a:tr h="612000">
                <a:tc>
                  <a:txBody>
                    <a:bodyPr/>
                    <a:lstStyle/>
                    <a:p>
                      <a:r>
                        <a:rPr lang="en-US" sz="2200">
                          <a:latin typeface="Liberation Sans"/>
                          <a:ea typeface="Liberation Sans"/>
                        </a:rPr>
                        <a:t>Revisión técnica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Liberation Sans"/>
                          <a:ea typeface="Liberation Sans"/>
                        </a:rPr>
                        <a:t>3.75 €</a:t>
                      </a:r>
                      <a:endParaRPr lang="en-US"/>
                    </a:p>
                  </a:txBody>
                  <a:tcPr/>
                </a:tc>
              </a:tr>
              <a:tr h="612000">
                <a:tc>
                  <a:txBody>
                    <a:bodyPr/>
                    <a:lstStyle/>
                    <a:p>
                      <a:r>
                        <a:rPr lang="en-US" sz="2200">
                          <a:latin typeface="Liberation Sans"/>
                          <a:ea typeface="Liberation Sans"/>
                        </a:rPr>
                        <a:t>Total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Liberation Sans"/>
                          <a:ea typeface="Liberation Sans"/>
                        </a:rPr>
                        <a:t>7,50 €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0013" name="Body"/>
          <p:cNvSpPr txBox="1"/>
          <p:nvPr/>
        </p:nvSpPr>
        <p:spPr>
          <a:xfrm>
            <a:off x="540000" y="5400000"/>
            <a:ext cx="10800000" cy="64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000">
                <a:solidFill>
                  <a:srgbClr val="17365D"/>
                </a:solidFill>
                <a:latin typeface="Liberation Sans"/>
                <a:ea typeface="Liberation Sans"/>
              </a:rPr>
              <a:t>Los importes proceden de los datos locales autorizados.</a:t>
            </a:r>
          </a:p>
        </p:txBody>
      </p:sp>
    </p:spTree>
  </p:cSld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6" name="Brand"/>
          <p:cNvSpPr txBox="1"/>
          <p:nvPr/>
        </p:nvSpPr>
        <p:spPr>
          <a:xfrm>
            <a:off x="540000" y="432000"/>
            <a:ext cx="1044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17365D"/>
                </a:solidFill>
                <a:latin typeface="Liberation Sans"/>
                <a:ea typeface="Liberation Sans"/>
              </a:rPr>
              <a:t>REGULAY · ÁREA TÉCNICA</a:t>
            </a:r>
          </a:p>
        </p:txBody>
      </p:sp>
      <p:sp>
        <p:nvSpPr>
          <p:cNvPr id="100007" name="Title"/>
          <p:cNvSpPr txBox="1"/>
          <p:nvPr/>
        </p:nvSpPr>
        <p:spPr>
          <a:xfrm>
            <a:off x="540000" y="972000"/>
            <a:ext cx="10800000" cy="10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600">
                <a:solidFill>
                  <a:srgbClr val="17365D"/>
                </a:solidFill>
                <a:latin typeface="Liberation Sans"/>
                <a:ea typeface="Liberation Sans"/>
              </a:rPr>
              <a:t>Distribución y revisión</a:t>
            </a:r>
          </a:p>
        </p:txBody>
      </p:sp>
      <p:sp>
        <p:nvSpPr>
          <p:cNvPr id="100008" name="Footer"/>
          <p:cNvSpPr txBox="1"/>
          <p:nvPr/>
        </p:nvSpPr>
        <p:spPr>
          <a:xfrm>
            <a:off x="540000" y="6048000"/>
            <a:ext cx="1044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17365D"/>
                </a:solidFill>
                <a:latin typeface="Liberation Sans"/>
                <a:ea typeface="Liberation Sans"/>
              </a:rPr>
              <a:t>3 · Informe sintético · 2026</a:t>
            </a:r>
          </a:p>
        </p:txBody>
      </p:sp>
      <p:graphicFrame>
        <p:nvGraphicFramePr>
          <p:cNvPr id="100014" name="Chart 1"/>
          <p:cNvGraphicFramePr/>
          <p:nvPr/>
        </p:nvGraphicFramePr>
        <p:xfrm>
          <a:off x="540000" y="2160000"/>
          <a:ext cx="6480000" cy="36000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e53ef729f81f4bd2"/>
          </a:graphicData>
        </a:graphic>
      </p:graphicFrame>
      <p:sp>
        <p:nvSpPr>
          <p:cNvPr id="100015" name="Body"/>
          <p:cNvSpPr txBox="1"/>
          <p:nvPr/>
        </p:nvSpPr>
        <p:spPr>
          <a:xfrm>
            <a:off x="7560000" y="2160000"/>
            <a:ext cx="3960000" cy="36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000">
                <a:solidFill>
                  <a:srgbClr val="17365D"/>
                </a:solidFill>
                <a:latin typeface="Liberation Sans"/>
                <a:ea typeface="Liberation Sans"/>
              </a:rPr>
              <a:t>Los tres conceptos suman 7,50 €. El detalle editable se conserva en la tabla y en el gráfico.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OfficeCLI/1.0.155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OfficeCLI</dc:creator>
  <dcterms:created xsi:type="dcterms:W3CDTF">2026-10-08T16:40:29.0000000Z</dcterms:created>
  <lastModifiedBy>OfficeCLI</lastModifiedBy>
  <dcterms:modified xsi:type="dcterms:W3CDTF">2026-10-08T16:40:30.9684605Z</dcterms:modified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1.0.155</vt:lpwstr>
  </op:property>
  <op:property fmtid="{D5CDD505-2E9C-101B-9397-08002B2CF9AE}" pid="3" name="OfficeCLI.LastModified">
    <vt:lpwstr xmlns:vt="http://schemas.openxmlformats.org/officeDocument/2006/docPropsVTypes">2026-10-08T16:40:54Z</vt:lpwstr>
  </op:property>
</op:Properties>
</file>