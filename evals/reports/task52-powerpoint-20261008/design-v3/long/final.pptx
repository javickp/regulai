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charts/chart1.xml" ContentType="application/vnd.openxmlformats-officedocument.drawingml.chart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0a56e4f9bd4a49cc" /><Relationship Type="http://schemas.openxmlformats.org/package/2006/relationships/metadata/core-properties" Target="/docProps/core.xml" Id="R22f99fb00cd14d7e" /><Relationship Type="http://schemas.openxmlformats.org/officeDocument/2006/relationships/extended-properties" Target="/docProps/app.xml" Id="R10765414de6c4f1b" /><Relationship Type="http://schemas.openxmlformats.org/officeDocument/2006/relationships/custom-properties" Target="/docProps/custom.xml" Id="R958ec454a70944a5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984a929fbcc54e52"/>
  </p:notesMasterIdLst>
  <p:sldIdLst>
    <p:sldId id="256" r:id="R61bd999750554aad"/>
    <p:sldId id="257" r:id="Ra6dc3e7f57364943"/>
    <p:sldId id="258" r:id="Ra27177948e2c42fb"/>
  </p:sldIdLst>
  <p:sldSz cx="12192000" cy="6858000" type="screen16x9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61bd999750554aad" /><Relationship Type="http://schemas.openxmlformats.org/officeDocument/2006/relationships/notesMaster" Target="/ppt/notesMasters/notesMaster1.xml" Id="R984a929fbcc54e52" /><Relationship Type="http://schemas.openxmlformats.org/officeDocument/2006/relationships/slide" Target="/ppt/slides/slide2.xml" Id="Ra6dc3e7f57364943" /><Relationship Type="http://schemas.openxmlformats.org/officeDocument/2006/relationships/slide" Target="/ppt/slides/slide3.xml" Id="Ra27177948e2c42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7c1cd9d6b454caf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erif"/>
        <a:ea typeface=""/>
        <a:cs typeface=""/>
      </a:majorFont>
      <a:minorFont>
        <a:latin typeface="Liberation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32075d335134bb5" /><Relationship Type="http://schemas.openxmlformats.org/officeDocument/2006/relationships/slide" Target="/ppt/slides/slide1.xml" Id="Rdae204705ba94c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c46589e3b5a418d" /><Relationship Type="http://schemas.openxmlformats.org/officeDocument/2006/relationships/slide" Target="/ppt/slides/slide2.xml" Id="Rf54d429c0b804fe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5e42a2875b1743e0" /><Relationship Type="http://schemas.openxmlformats.org/officeDocument/2006/relationships/slide" Target="/ppt/slides/slide3.xml" Id="R2e67c54d6e6244ae" />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Importes del archivo de origen; cálculo local en céntimos y representación en euros.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6b4df6adc444ce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d16e88535c412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51d9ce80ea4b9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3dc67ce42f4fc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9231e5ff724a8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a5a4babb13aa4f9b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71b5c0e9394b5a" /><Relationship Type="http://schemas.openxmlformats.org/officeDocument/2006/relationships/notesSlide" Target="/ppt/notesSlides/notesSlide1.xml" Id="Rc800db691f6a4f1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294cb596940f0" /><Relationship Type="http://schemas.openxmlformats.org/officeDocument/2006/relationships/notesSlide" Target="/ppt/notesSlides/notesSlide2.xml" Id="Rfdf60bb123444d1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36a139ca249c3" /><Relationship Type="http://schemas.openxmlformats.org/officeDocument/2006/relationships/notesSlide" Target="/ppt/notesSlides/notesSlide3.xml" Id="Rd030a9a5858a4245" /><Relationship Type="http://schemas.openxmlformats.org/officeDocument/2006/relationships/chart" Target="/ppt/slides/charts/chart1.xml" Id="R66c60d859ee14a36" /></Relationships>
</file>

<file path=ppt/slides/charts/_rels/chart1.xml.rels><?xml version='1.0' encoding='UTF-8'?>
<ns0:Relationships xmlns:ns0="http://schemas.openxmlformats.org/package/2006/relationships"><ns0:Relationship Id="regulayData" Type="http://schemas.openxmlformats.org/officeDocument/2006/relationships/package" Target="data.xlsx"/></ns0:Relationships>
</file>

<file path=ppt/slides/charts/chart1.xml><?xml version="1.0" encoding="utf-8"?>
<c:chartSpace xmlns:a="http://schemas.openxmlformats.org/drawingml/2006/main" xmlns:c="http://schemas.openxmlformats.org/drawingml/2006/chart">
  <c:date1904 val="0"/>
  <c:lang val="es-ES"/>
  <c:chart>
    <c:plotArea>
      <c:layout/>
      <c:barChart>
        <c:barDir val="bar"/>
        <c:grouping val="clustered"/>
        <c:varyColors val="0"/>
        <c:ser>
          <c:idx val="0"/>
          <c:order val="0"/>
          <c:tx>
            <c:v>Importe (€)</c:v>
          </c:tx>
          <c:spPr>
            <a:solidFill xmlns:a="http://schemas.openxmlformats.org/drawingml/2006/main">
              <a:srgbClr val="326D72"/>
            </a:solidFill>
          </c:spPr>
          <c:invertIfNegative val="0"/>
          <c:cat>
            <c:strLit>
              <c:ptCount val="3"/>
              <c:pt idx="0">
                <c:v>Área Norte</c:v>
              </c:pt>
              <c:pt idx="1">
                <c:v>Piñón español</c:v>
              </c:pt>
              <c:pt idx="2">
                <c:v>Revisión técnica</c:v>
              </c:pt>
            </c:strLit>
          </c:cat>
          <c:val>
            <c:numLit>
              <c:formatCode>General</c:formatCode>
              <c:ptCount val="3"/>
              <c:pt idx="0">
                <c:v>1.25</c:v>
              </c:pt>
              <c:pt idx="1">
                <c:v>2.5</c:v>
              </c:pt>
              <c:pt idx="2">
                <c:v>3.75</c:v>
              </c:pt>
            </c:numLit>
          </c:val>
        </c:ser>
        <c:dLbls>
          <c:dLbl>
            <c:idx val="0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1,25 €</a:t>
                  </a:r>
                </a:p>
              </c:rich>
            </c:tx>
            <c:dLblPos val="outEnd"/>
            <c:showVal val="0"/>
          </c:dLbl>
          <c:dLbl>
            <c:idx val="1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2,50 €</a:t>
                  </a:r>
                </a:p>
              </c:rich>
            </c:tx>
            <c:dLblPos val="outEnd"/>
            <c:showVal val="0"/>
          </c:dLbl>
          <c:dLbl>
            <c:idx val="2"/>
            <c:tx>
              <c:rich>
                <a:bodyPr/>
                <a:lstStyle/>
                <a:p>
                  <a:r>
                    <a:rPr lang="es-ES" sz="1400">
                      <a:solidFill>
                        <a:srgbClr val="193B45"/>
                      </a:solidFill>
                      <a:latin typeface="Liberation Sans"/>
                    </a:rPr>
                    <a:t>3,75 €</a:t>
                  </a:r>
                </a:p>
              </c:rich>
            </c:tx>
            <c:dLblPos val="outEnd"/>
            <c:showVal val="0"/>
          </c:dLbl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  <c:max val="4.875"/>
        </c:scaling>
        <c:delete val="1"/>
        <c:axPos val="l"/>
        <c:numFmt formatCode="General" sourceLinked="1"/>
        <c:majorTickMark val="out"/>
        <c:minorTickMark val="none"/>
        <c:tickLblPos val="nextTo"/>
        <c:txPr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93B45"/>
                </a:solidFill>
                <a:latin typeface="Liberation Sans"/>
                <a:ea typeface="Liberation Sans"/>
              </a:defRPr>
            </a:pPr>
          </a:p>
        </c:txPr>
        <c:crossAx val="1"/>
        <c:crosses val="autoZero"/>
        <c:crossBetween val="between"/>
      </c:valAx>
    </c:plotArea>
    <c:plotVisOnly val="1"/>
    <c:dispBlanksAs val="gap"/>
  </c:chart>
  <c:externalData xmlns:r="http://schemas.openxmlformats.org/officeDocument/2006/relationships" r:id="regulayData">
    <c:autoUpdate val="0"/>
  </c:externalData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193B45"/>
        </a:solidFill>
      </p:bgPr>
    </p:bg>
    <p:spTree>
      <p:nvGrpSpPr>
        <p:cNvPr id="1" name=""/>
        <p:cNvGrpSpPr/>
        <p:nvPr/>
      </p:nvGrpSpPr>
      <p:grpSpPr/>
      <p:sp>
        <p:nvSpPr>
          <p:cNvPr id="100000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E4C38E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1" name="Title"/>
          <p:cNvSpPr txBox="1"/>
          <p:nvPr/>
        </p:nvSpPr>
        <p:spPr>
          <a:xfrm>
            <a:off x="612000" y="1080000"/>
            <a:ext cx="6840000" cy="18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>
                <a:solidFill>
                  <a:srgbClr val="FFFFFF"/>
                </a:solidFill>
                <a:latin typeface="Liberation Serif"/>
                <a:ea typeface="Liberation Serif"/>
              </a:rPr>
              <a:t>Informe económico de España</a:t>
            </a:r>
          </a:p>
        </p:txBody>
      </p:sp>
      <p:sp>
        <p:nvSpPr>
          <p:cNvPr id="100002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B9CDCE"/>
                </a:solidFill>
                <a:latin typeface="Liberation Sans"/>
                <a:ea typeface="Liberation Sans"/>
              </a:rPr>
              <a:t>01  /  REGULAY · Informe económico</a:t>
            </a:r>
          </a:p>
        </p:txBody>
      </p:sp>
      <p:sp>
        <p:nvSpPr>
          <p:cNvPr id="100009" name="Body"/>
          <p:cNvSpPr txBox="1"/>
          <p:nvPr/>
        </p:nvSpPr>
        <p:spPr>
          <a:xfrm>
            <a:off x="612000" y="3600000"/>
            <a:ext cx="6480000" cy="14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Datos económicos de España</a:t>
            </a:r>
          </a:p>
          <a:p>
            <a:r>
              <a:rPr lang="en-US" sz="2200">
                <a:solidFill>
                  <a:srgbClr val="D8E5E5"/>
                </a:solidFill>
                <a:latin typeface="Liberation Sans"/>
                <a:ea typeface="Liberation Sans"/>
              </a:rPr>
              <a:t>Desglose y revisión de importes</a:t>
            </a:r>
          </a:p>
        </p:txBody>
      </p:sp>
      <p:sp>
        <p:nvSpPr>
          <p:cNvPr id="100010" name="Total"/>
          <p:cNvSpPr txBox="1"/>
          <p:nvPr/>
        </p:nvSpPr>
        <p:spPr>
          <a:xfrm>
            <a:off x="7920000" y="2160000"/>
            <a:ext cx="3600000" cy="1332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4200">
                <a:solidFill>
                  <a:srgbClr val="E4C38E"/>
                </a:solidFill>
                <a:latin typeface="Liberation Serif"/>
                <a:ea typeface="Liberation Serif"/>
              </a:rPr>
              <a:t>7,50 €</a:t>
            </a:r>
          </a:p>
        </p:txBody>
      </p:sp>
      <p:sp>
        <p:nvSpPr>
          <p:cNvPr id="100011" name="TotalLabel"/>
          <p:cNvSpPr txBox="1"/>
          <p:nvPr/>
        </p:nvSpPr>
        <p:spPr>
          <a:xfrm>
            <a:off x="7920000" y="3168000"/>
            <a:ext cx="3600000" cy="39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400">
                <a:solidFill>
                  <a:srgbClr val="D8E5E5"/>
                </a:solidFill>
                <a:latin typeface="Liberation Sans"/>
                <a:ea typeface="Liberation Sans"/>
              </a:rPr>
              <a:t>IMPORTE TOTAL</a:t>
            </a:r>
          </a:p>
        </p:txBody>
      </p:sp>
      <p:sp>
        <p:nvSpPr>
          <p:cNvPr id="100012" name="Count"/>
          <p:cNvSpPr txBox="1"/>
          <p:nvPr/>
        </p:nvSpPr>
        <p:spPr>
          <a:xfrm>
            <a:off x="7920000" y="3960000"/>
            <a:ext cx="3600000" cy="46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2000">
                <a:solidFill>
                  <a:srgbClr val="D8E5E5"/>
                </a:solidFill>
                <a:latin typeface="Liberation Sans"/>
                <a:ea typeface="Liberation Sans"/>
              </a:rPr>
              <a:t>3 conceptos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/>
      <p:sp>
        <p:nvSpPr>
          <p:cNvPr id="100003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326D72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4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93B45"/>
                </a:solidFill>
                <a:latin typeface="Liberation Serif"/>
                <a:ea typeface="Liberation Serif"/>
              </a:rPr>
              <a:t>Detalle de importes</a:t>
            </a:r>
          </a:p>
        </p:txBody>
      </p:sp>
      <p:sp>
        <p:nvSpPr>
          <p:cNvPr id="100005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60797E"/>
                </a:solidFill>
                <a:latin typeface="Liberation Sans"/>
                <a:ea typeface="Liberation Sans"/>
              </a:rPr>
              <a:t>02  /  REGULAY · Informe económico</a:t>
            </a:r>
          </a:p>
        </p:txBody>
      </p:sp>
      <p:graphicFrame>
        <p:nvGraphicFramePr>
          <p:cNvPr id="100013" name="Table 1"/>
          <p:cNvGraphicFramePr/>
          <p:nvPr/>
        </p:nvGraphicFramePr>
        <p:xfrm>
          <a:off x="612000" y="2160000"/>
          <a:ext cx="10800000" cy="2880000"/>
        </p:xfrm>
        <a:graphic>
          <a:graphicData uri="http://schemas.openxmlformats.org/drawingml/2006/table">
            <a:tbl>
              <a:tblPr firstRow="1" bandRow="1"/>
              <a:tblGrid>
                <a:gridCol w="7920000"/>
                <a:gridCol w="2880000"/>
              </a:tblGrid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Concepto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  <a:solidFill>
                      <a:srgbClr val="193B45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>
                          <a:solidFill>
                            <a:srgbClr val="FFFFFF"/>
                          </a:solidFill>
                          <a:latin typeface="Liberation Sans"/>
                          <a:ea typeface="Liberation Sans"/>
                        </a:rPr>
                        <a:t>Importe (€)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  <a:solidFill>
                      <a:srgbClr val="193B45"/>
                    </a:solidFill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Área Norte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1,25 €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Piñón español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2,50 €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Revisión técnica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3,75 €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 w="6350">
                      <a:solidFill>
                        <a:srgbClr val="D7E2E1"/>
                      </a:solidFill>
                      <a:prstDash val="solid"/>
                    </a:lnB>
                  </a:tcPr>
                </a:tc>
              </a:tr>
              <a:tr h="576000">
                <a:tc>
                  <a:txBody>
                    <a:bodyPr/>
                    <a:lstStyle/>
                    <a:p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Total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E9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>
                          <a:solidFill>
                            <a:srgbClr val="193B45"/>
                          </a:solidFill>
                          <a:latin typeface="Liberation Sans"/>
                          <a:ea typeface="Liberation Sans"/>
                        </a:rPr>
                        <a:t>7,50 €</a:t>
                      </a:r>
                      <a:endParaRPr lang="en-US"/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6350">
                      <a:solidFill>
                        <a:srgbClr val="D7E2E1"/>
                      </a:solidFill>
                      <a:prstDash val="solid"/>
                    </a:lnT>
                    <a:lnB>
                      <a:noFill/>
                    </a:lnB>
                    <a:solidFill>
                      <a:srgbClr val="DDEBE9"/>
                    </a:solidFill>
                  </a:tcPr>
                </a:tc>
              </a:tr>
            </a:tbl>
          </a:graphicData>
        </a:graphic>
      </p:graphicFrame>
      <p:sp>
        <p:nvSpPr>
          <p:cNvPr id="100014" name="Body"/>
          <p:cNvSpPr txBox="1"/>
          <p:nvPr/>
        </p:nvSpPr>
        <p:spPr>
          <a:xfrm>
            <a:off x="612000" y="5400000"/>
            <a:ext cx="10800000" cy="54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326D72"/>
                </a:solidFill>
                <a:latin typeface="Liberation Sans"/>
                <a:ea typeface="Liberation Sans"/>
              </a:rPr>
              <a:t>Fuente: archivo aportado · Suma calculada en céntimos</a:t>
            </a:r>
          </a:p>
        </p:txBody>
      </p:sp>
    </p:spTree>
  </p:cSld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7F5"/>
        </a:solidFill>
      </p:bgPr>
    </p:bg>
    <p:spTree>
      <p:nvGrpSpPr>
        <p:cNvPr id="1" name=""/>
        <p:cNvGrpSpPr/>
        <p:nvPr/>
      </p:nvGrpSpPr>
      <p:grpSpPr/>
      <p:sp>
        <p:nvSpPr>
          <p:cNvPr id="100006" name="Brand"/>
          <p:cNvSpPr txBox="1"/>
          <p:nvPr/>
        </p:nvSpPr>
        <p:spPr>
          <a:xfrm>
            <a:off x="612000" y="36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200">
                <a:solidFill>
                  <a:srgbClr val="326D72"/>
                </a:solidFill>
                <a:latin typeface="Liberation Sans"/>
                <a:ea typeface="Liberation Sans"/>
              </a:rPr>
              <a:t>REGULAY  /  INFORMES</a:t>
            </a:r>
          </a:p>
        </p:txBody>
      </p:sp>
      <p:sp>
        <p:nvSpPr>
          <p:cNvPr id="100007" name="Title"/>
          <p:cNvSpPr txBox="1"/>
          <p:nvPr/>
        </p:nvSpPr>
        <p:spPr>
          <a:xfrm>
            <a:off x="612000" y="108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3600">
                <a:solidFill>
                  <a:srgbClr val="193B45"/>
                </a:solidFill>
                <a:latin typeface="Liberation Serif"/>
                <a:ea typeface="Liberation Serif"/>
              </a:rPr>
              <a:t>Distribución por concepto</a:t>
            </a:r>
          </a:p>
        </p:txBody>
      </p:sp>
      <p:sp>
        <p:nvSpPr>
          <p:cNvPr id="100008" name="Footer"/>
          <p:cNvSpPr txBox="1"/>
          <p:nvPr/>
        </p:nvSpPr>
        <p:spPr>
          <a:xfrm>
            <a:off x="612000" y="6120000"/>
            <a:ext cx="10800000" cy="324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100">
                <a:solidFill>
                  <a:srgbClr val="60797E"/>
                </a:solidFill>
                <a:latin typeface="Liberation Sans"/>
                <a:ea typeface="Liberation Sans"/>
              </a:rPr>
              <a:t>03  /  REGULAY · Informe económico</a:t>
            </a:r>
          </a:p>
        </p:txBody>
      </p:sp>
      <p:graphicFrame>
        <p:nvGraphicFramePr>
          <p:cNvPr id="100015" name="Chart 1"/>
          <p:cNvGraphicFramePr/>
          <p:nvPr/>
        </p:nvGraphicFramePr>
        <p:xfrm>
          <a:off x="612000" y="2160000"/>
          <a:ext cx="6480000" cy="36000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66c60d859ee14a36"/>
          </a:graphicData>
        </a:graphic>
      </p:graphicFrame>
      <p:sp>
        <p:nvSpPr>
          <p:cNvPr id="100016" name="Body"/>
          <p:cNvSpPr txBox="1"/>
          <p:nvPr/>
        </p:nvSpPr>
        <p:spPr>
          <a:xfrm>
            <a:off x="7560000" y="2160000"/>
            <a:ext cx="3960000" cy="360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 sz="1800">
                <a:solidFill>
                  <a:srgbClr val="193B45"/>
                </a:solidFill>
                <a:latin typeface="Liberation Sans"/>
                <a:ea typeface="Liberation Sans"/>
              </a:rPr>
              <a:t>El análisis reúne los importes de las áreas de trabajo en España. Cada concepto mantiene su nombre original y su valor en euros. La revisión técnica debe contrastar el detalle con el archivo de origen antes de utilizar el total. Se conservan las tildes, la ñ y los símbolos monetarios: €, £ y $.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Liberation Serif"/>
        <a:ea typeface=""/>
        <a:cs typeface=""/>
      </a:majorFont>
      <a:minorFont>
        <a:latin typeface="Liberation Sans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OfficeCLI/1.0.155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2026-10-08T17:07:17.0000000Z</dcterms:created>
  <lastModifiedBy>OfficeCLI</lastModifiedBy>
  <dcterms:modified xsi:type="dcterms:W3CDTF">2026-10-08T17:07:18.6998430Z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1.0.155</vt:lpwstr>
  </op:property>
  <op:property fmtid="{D5CDD505-2E9C-101B-9397-08002B2CF9AE}" pid="3" name="OfficeCLI.LastModified">
    <vt:lpwstr xmlns:vt="http://schemas.openxmlformats.org/officeDocument/2006/docPropsVTypes">2026-10-08T17:07:46Z</vt:lpwstr>
  </op:property>
</op:Properties>
</file>