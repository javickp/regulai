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charts/chart1.xml" ContentType="application/vnd.openxmlformats-officedocument.drawingml.chart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da667687e0b47c2" /><Relationship Type="http://schemas.openxmlformats.org/package/2006/relationships/metadata/core-properties" Target="/docProps/core.xml" Id="Ra8d08c41607e46ca" /><Relationship Type="http://schemas.openxmlformats.org/officeDocument/2006/relationships/extended-properties" Target="/docProps/app.xml" Id="Rdad39fc887854f7b" /><Relationship Type="http://schemas.openxmlformats.org/officeDocument/2006/relationships/custom-properties" Target="/docProps/custom.xml" Id="R3f1826850a264f0a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b85bd100e6df487f"/>
  </p:notesMasterIdLst>
  <p:sldIdLst>
    <p:sldId id="256" r:id="R404129ce57704324"/>
    <p:sldId id="257" r:id="Rdb0f9a374e0d44ed"/>
    <p:sldId id="258" r:id="R4a6fe59b9d114d49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404129ce57704324" /><Relationship Type="http://schemas.openxmlformats.org/officeDocument/2006/relationships/notesMaster" Target="/ppt/notesMasters/notesMaster1.xml" Id="Rb85bd100e6df487f" /><Relationship Type="http://schemas.openxmlformats.org/officeDocument/2006/relationships/slide" Target="/ppt/slides/slide2.xml" Id="Rdb0f9a374e0d44ed" /><Relationship Type="http://schemas.openxmlformats.org/officeDocument/2006/relationships/slide" Target="/ppt/slides/slide3.xml" Id="R4a6fe59b9d114d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447289affb844f7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erif"/>
        <a:ea typeface=""/>
        <a:cs typeface=""/>
      </a:majorFont>
      <a:minorFont>
        <a:latin typeface="Liberation Sa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d7f0abcf9e84718" /><Relationship Type="http://schemas.openxmlformats.org/officeDocument/2006/relationships/slide" Target="/ppt/slides/slide1.xml" Id="R67df259d5aca42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367117a0c96439d" /><Relationship Type="http://schemas.openxmlformats.org/officeDocument/2006/relationships/slide" Target="/ppt/slides/slide2.xml" Id="Rc74be0e6307b4c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0a4cbfe76d5400a" /><Relationship Type="http://schemas.openxmlformats.org/officeDocument/2006/relationships/slide" Target="/ppt/slides/slide3.xml" Id="Rd3467ce16bcc434c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f076a515064fd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46bc499ddd4b6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49ccf9a0a6428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e0c3028f4048a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1296d500d14ee5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7263dde2edb042fe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d67d8c19b4c3d" /><Relationship Type="http://schemas.openxmlformats.org/officeDocument/2006/relationships/notesSlide" Target="/ppt/notesSlides/notesSlide1.xml" Id="R50c4b40c40494c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4e4d242714f80" /><Relationship Type="http://schemas.openxmlformats.org/officeDocument/2006/relationships/notesSlide" Target="/ppt/notesSlides/notesSlide2.xml" Id="R3dea09b1885349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09b64c54d4411" /><Relationship Type="http://schemas.openxmlformats.org/officeDocument/2006/relationships/notesSlide" Target="/ppt/notesSlides/notesSlide3.xml" Id="R8ef57cefb93f4f93" /><Relationship Type="http://schemas.openxmlformats.org/officeDocument/2006/relationships/chart" Target="/ppt/slides/charts/chart1.xml" Id="Rf72f625e7a7743f7" /></Relationships>
</file>

<file path=ppt/slides/charts/_rels/chart1.xml.rels><?xml version='1.0' encoding='UTF-8'?>
<ns0:Relationships xmlns:ns0="http://schemas.openxmlformats.org/package/2006/relationships"><ns0:Relationship Id="regulayData" Type="http://schemas.openxmlformats.org/officeDocument/2006/relationships/package" Target="data.xlsx"/></ns0:Relationships>
</file>

<file path=ppt/slides/charts/chart1.xml><?xml version="1.0" encoding="utf-8"?>
<c:chartSpace xmlns:a="http://schemas.openxmlformats.org/drawingml/2006/main" xmlns:c="http://schemas.openxmlformats.org/drawingml/2006/chart">
  <c:date1904 val="0"/>
  <c:lang val="es-ES"/>
  <c:chart>
    <c:plotArea>
      <c:layout/>
      <c:barChart>
        <c:barDir val="bar"/>
        <c:grouping val="clustered"/>
        <c:varyColors val="0"/>
        <c:ser>
          <c:idx val="0"/>
          <c:order val="0"/>
          <c:tx>
            <c:v>Importe (€)</c:v>
          </c:tx>
          <c:spPr>
            <a:solidFill xmlns:a="http://schemas.openxmlformats.org/drawingml/2006/main">
              <a:srgbClr val="326D72"/>
            </a:solidFill>
          </c:spPr>
          <c:invertIfNegative val="0"/>
          <c:cat>
            <c:strLit>
              <c:ptCount val="3"/>
              <c:pt idx="0">
                <c:v>Área Norte</c:v>
              </c:pt>
              <c:pt idx="1">
                <c:v>Piñón español</c:v>
              </c:pt>
              <c:pt idx="2">
                <c:v>Revisión técnica</c:v>
              </c:pt>
            </c:strLit>
          </c:cat>
          <c:val>
            <c:numLit>
              <c:formatCode>General</c:formatCode>
              <c:ptCount val="3"/>
              <c:pt idx="0">
                <c:v>1.25</c:v>
              </c:pt>
              <c:pt idx="1">
                <c:v>2.5</c:v>
              </c:pt>
              <c:pt idx="2">
                <c:v>3.75</c:v>
              </c:pt>
            </c:numLit>
          </c:val>
        </c:ser>
        <c:dLbls>
          <c:dLbl>
            <c:idx val="0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1,25 €</a:t>
                  </a:r>
                </a:p>
              </c:rich>
            </c:tx>
            <c:dLblPos val="outEnd"/>
            <c:showVal val="0"/>
          </c:dLbl>
          <c:dLbl>
            <c:idx val="1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2,50 €</a:t>
                  </a:r>
                </a:p>
              </c:rich>
            </c:tx>
            <c:dLblPos val="outEnd"/>
            <c:showVal val="0"/>
          </c:dLbl>
          <c:dLbl>
            <c:idx val="2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3,75 €</a:t>
                  </a:r>
                </a:p>
              </c:rich>
            </c:tx>
            <c:dLblPos val="outEnd"/>
            <c:showVal val="0"/>
          </c:dLbl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B45"/>
                </a:solidFill>
                <a:latin typeface="Liberation Sans"/>
                <a:ea typeface="Liberation Sans"/>
              </a:defRPr>
            </a:pPr>
          </a:p>
        </c:txPr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  <c:max val="4.875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B45"/>
                </a:solidFill>
                <a:latin typeface="Liberation Sans"/>
                <a:ea typeface="Liberation Sans"/>
              </a:defRPr>
            </a:pPr>
          </a:p>
        </c:txPr>
        <c:crossAx val="1"/>
        <c:crosses val="autoZero"/>
        <c:crossBetween val="between"/>
      </c:valAx>
    </c:plotArea>
    <c:plotVisOnly val="1"/>
    <c:dispBlanksAs val="gap"/>
  </c:chart>
  <c:externalData xmlns:r="http://schemas.openxmlformats.org/officeDocument/2006/relationships" r:id="regulayData">
    <c:autoUpdate val="0"/>
  </c:externalData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93B45"/>
        </a:solidFill>
      </p:bgPr>
    </p:bg>
    <p:spTree>
      <p:nvGrpSpPr>
        <p:cNvPr id="1" name=""/>
        <p:cNvGrpSpPr/>
        <p:nvPr/>
      </p:nvGrpSpPr>
      <p:grpSpPr/>
      <p:sp>
        <p:nvSpPr>
          <p:cNvPr id="100000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E4C38E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1" name="Title"/>
          <p:cNvSpPr txBox="1"/>
          <p:nvPr/>
        </p:nvSpPr>
        <p:spPr>
          <a:xfrm>
            <a:off x="612000" y="1080000"/>
            <a:ext cx="6840000" cy="18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>
                <a:solidFill>
                  <a:srgbClr val="FFFFFF"/>
                </a:solidFill>
                <a:latin typeface="Liberation Serif"/>
                <a:ea typeface="Liberation Serif"/>
              </a:rPr>
              <a:t>Informe económico de España</a:t>
            </a:r>
          </a:p>
        </p:txBody>
      </p:sp>
      <p:sp>
        <p:nvSpPr>
          <p:cNvPr id="100002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B9CDCE"/>
                </a:solidFill>
                <a:latin typeface="Liberation Sans"/>
                <a:ea typeface="Liberation Sans"/>
              </a:rPr>
              <a:t>01  /  REGULAY · Informe económico</a:t>
            </a:r>
          </a:p>
        </p:txBody>
      </p:sp>
      <p:sp>
        <p:nvSpPr>
          <p:cNvPr id="100009" name="Body"/>
          <p:cNvSpPr txBox="1"/>
          <p:nvPr/>
        </p:nvSpPr>
        <p:spPr>
          <a:xfrm>
            <a:off x="612000" y="3600000"/>
            <a:ext cx="648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200">
                <a:solidFill>
                  <a:srgbClr val="D8E5E5"/>
                </a:solidFill>
                <a:latin typeface="Liberation Sans"/>
                <a:ea typeface="Liberation Sans"/>
              </a:rPr>
              <a:t>Datos económicos de España</a:t>
            </a:r>
          </a:p>
          <a:p>
            <a:r>
              <a:rPr lang="en-US" sz="2200">
                <a:solidFill>
                  <a:srgbClr val="D8E5E5"/>
                </a:solidFill>
                <a:latin typeface="Liberation Sans"/>
                <a:ea typeface="Liberation Sans"/>
              </a:rPr>
              <a:t>Desglose y revisión de importes</a:t>
            </a:r>
          </a:p>
        </p:txBody>
      </p:sp>
      <p:sp>
        <p:nvSpPr>
          <p:cNvPr id="100010" name="Total"/>
          <p:cNvSpPr txBox="1"/>
          <p:nvPr/>
        </p:nvSpPr>
        <p:spPr>
          <a:xfrm>
            <a:off x="7920000" y="2160000"/>
            <a:ext cx="3600000" cy="13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>
                <a:solidFill>
                  <a:srgbClr val="E4C38E"/>
                </a:solidFill>
                <a:latin typeface="Liberation Serif"/>
                <a:ea typeface="Liberation Serif"/>
              </a:rPr>
              <a:t>7,50 €</a:t>
            </a:r>
          </a:p>
        </p:txBody>
      </p:sp>
      <p:sp>
        <p:nvSpPr>
          <p:cNvPr id="100011" name="TotalLabel"/>
          <p:cNvSpPr txBox="1"/>
          <p:nvPr/>
        </p:nvSpPr>
        <p:spPr>
          <a:xfrm>
            <a:off x="7920000" y="3168000"/>
            <a:ext cx="3600000" cy="39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D8E5E5"/>
                </a:solidFill>
                <a:latin typeface="Liberation Sans"/>
                <a:ea typeface="Liberation Sans"/>
              </a:rPr>
              <a:t>IMPORTE TOTAL</a:t>
            </a:r>
          </a:p>
        </p:txBody>
      </p:sp>
      <p:sp>
        <p:nvSpPr>
          <p:cNvPr id="100012" name="Count"/>
          <p:cNvSpPr txBox="1"/>
          <p:nvPr/>
        </p:nvSpPr>
        <p:spPr>
          <a:xfrm>
            <a:off x="7920000" y="3960000"/>
            <a:ext cx="3600000" cy="4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>
                <a:solidFill>
                  <a:srgbClr val="D8E5E5"/>
                </a:solidFill>
                <a:latin typeface="Liberation Sans"/>
                <a:ea typeface="Liberation Sans"/>
              </a:rPr>
              <a:t>3 conceptos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/>
      <p:sp>
        <p:nvSpPr>
          <p:cNvPr id="100003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326D72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4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93B45"/>
                </a:solidFill>
                <a:latin typeface="Liberation Serif"/>
                <a:ea typeface="Liberation Serif"/>
              </a:rPr>
              <a:t>Detalle de importes</a:t>
            </a:r>
          </a:p>
        </p:txBody>
      </p:sp>
      <p:sp>
        <p:nvSpPr>
          <p:cNvPr id="100005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60797E"/>
                </a:solidFill>
                <a:latin typeface="Liberation Sans"/>
                <a:ea typeface="Liberation Sans"/>
              </a:rPr>
              <a:t>02  /  REGULAY · Informe económico</a:t>
            </a:r>
          </a:p>
        </p:txBody>
      </p:sp>
      <p:graphicFrame>
        <p:nvGraphicFramePr>
          <p:cNvPr id="100013" name="Table 1"/>
          <p:cNvGraphicFramePr/>
          <p:nvPr/>
        </p:nvGraphicFramePr>
        <p:xfrm>
          <a:off x="612000" y="2160000"/>
          <a:ext cx="10800000" cy="2880000"/>
        </p:xfrm>
        <a:graphic>
          <a:graphicData uri="http://schemas.openxmlformats.org/drawingml/2006/table">
            <a:tbl>
              <a:tblPr firstRow="1" bandRow="1"/>
              <a:tblGrid>
                <a:gridCol w="7920000"/>
                <a:gridCol w="2880000"/>
              </a:tblGrid>
              <a:tr h="576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</a:rPr>
                        <a:t>Concepto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  <a:solidFill>
                      <a:srgbClr val="193B4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</a:rPr>
                        <a:t>Importe (€)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  <a:solidFill>
                      <a:srgbClr val="193B45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Área Norte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1,25 €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Piñón español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2,50 €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Revisión técnica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3,75 €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Total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7,50 €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E9"/>
                    </a:solidFill>
                  </a:tcPr>
                </a:tc>
              </a:tr>
            </a:tbl>
          </a:graphicData>
        </a:graphic>
      </p:graphicFrame>
      <p:sp>
        <p:nvSpPr>
          <p:cNvPr id="100014" name="Body"/>
          <p:cNvSpPr txBox="1"/>
          <p:nvPr/>
        </p:nvSpPr>
        <p:spPr>
          <a:xfrm>
            <a:off x="612000" y="540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326D72"/>
                </a:solidFill>
                <a:latin typeface="Liberation Sans"/>
                <a:ea typeface="Liberation Sans"/>
              </a:rPr>
              <a:t>Fuente: archivo aportado · Suma calculada en céntimos</a:t>
            </a:r>
          </a:p>
        </p:txBody>
      </p:sp>
    </p:spTree>
  </p:cSld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/>
      <p:sp>
        <p:nvSpPr>
          <p:cNvPr id="100006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326D72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7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93B45"/>
                </a:solidFill>
                <a:latin typeface="Liberation Serif"/>
                <a:ea typeface="Liberation Serif"/>
              </a:rPr>
              <a:t>Distribución por concepto</a:t>
            </a:r>
          </a:p>
        </p:txBody>
      </p:sp>
      <p:sp>
        <p:nvSpPr>
          <p:cNvPr id="100008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60797E"/>
                </a:solidFill>
                <a:latin typeface="Liberation Sans"/>
                <a:ea typeface="Liberation Sans"/>
              </a:rPr>
              <a:t>03  /  REGULAY · Informe económico</a:t>
            </a:r>
          </a:p>
        </p:txBody>
      </p:sp>
      <p:graphicFrame>
        <p:nvGraphicFramePr>
          <p:cNvPr id="100015" name="Chart 1"/>
          <p:cNvGraphicFramePr/>
          <p:nvPr/>
        </p:nvGraphicFramePr>
        <p:xfrm>
          <a:off x="612000" y="2160000"/>
          <a:ext cx="6480000" cy="3600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f72f625e7a7743f7"/>
          </a:graphicData>
        </a:graphic>
      </p:graphicFrame>
      <p:sp>
        <p:nvSpPr>
          <p:cNvPr id="100016" name="Body"/>
          <p:cNvSpPr txBox="1"/>
          <p:nvPr/>
        </p:nvSpPr>
        <p:spPr>
          <a:xfrm>
            <a:off x="7560000" y="2160000"/>
            <a:ext cx="3960000" cy="36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193B45"/>
                </a:solidFill>
                <a:latin typeface="Liberation Sans"/>
                <a:ea typeface="Liberation Sans"/>
              </a:rPr>
              <a:t>Los importes corresponden a tres conceptos del archivo de origen. La tabla conserva el detalle y el gráfico permite comparar su distribución.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erif"/>
        <a:ea typeface=""/>
        <a:cs typeface=""/>
      </a:majorFont>
      <a:minorFont>
        <a:latin typeface="Liberation Sa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OfficeCLI/1.0.155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2026-10-08T17:06:20.0000000Z</dcterms:created>
  <lastModifiedBy>OfficeCLI</lastModifiedBy>
  <dcterms:modified xsi:type="dcterms:W3CDTF">2026-10-08T17:06:21.9174181Z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1.0.155</vt:lpwstr>
  </op:property>
  <op:property fmtid="{D5CDD505-2E9C-101B-9397-08002B2CF9AE}" pid="3" name="OfficeCLI.LastModified">
    <vt:lpwstr xmlns:vt="http://schemas.openxmlformats.org/officeDocument/2006/docPropsVTypes">2026-10-08T17:06:50Z</vt:lpwstr>
  </op:property>
</op:Properties>
</file>