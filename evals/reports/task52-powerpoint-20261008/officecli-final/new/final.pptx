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charts/chart1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21799b2cf2a45e8" /><Relationship Type="http://schemas.openxmlformats.org/package/2006/relationships/metadata/core-properties" Target="/docProps/core.xml" Id="R785e8e7961ca4fcd" /><Relationship Type="http://schemas.openxmlformats.org/officeDocument/2006/relationships/extended-properties" Target="/docProps/app.xml" Id="R99aaff1173a04f03" /><Relationship Type="http://schemas.openxmlformats.org/officeDocument/2006/relationships/custom-properties" Target="/docProps/custom.xml" Id="R0663321bbdb64d52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679093530a7f4445"/>
  </p:notesMasterIdLst>
  <p:sldIdLst>
    <p:sldId id="256" r:id="Rd96c30541405446c"/>
    <p:sldId id="257" r:id="R4e8a153a50f143b8"/>
    <p:sldId id="258" r:id="R594b89da026a4d66"/>
  </p:sldIdLst>
  <p:sldSz cx="12192000" cy="6858000" type="screen16x9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d96c30541405446c" /><Relationship Type="http://schemas.openxmlformats.org/officeDocument/2006/relationships/notesMaster" Target="/ppt/notesMasters/notesMaster1.xml" Id="R679093530a7f4445" /><Relationship Type="http://schemas.openxmlformats.org/officeDocument/2006/relationships/slide" Target="/ppt/slides/slide2.xml" Id="R4e8a153a50f143b8" /><Relationship Type="http://schemas.openxmlformats.org/officeDocument/2006/relationships/slide" Target="/ppt/slides/slide3.xml" Id="R594b89da026a4d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b851dd6ad624654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c4e4634c11049f2" /><Relationship Type="http://schemas.openxmlformats.org/officeDocument/2006/relationships/slide" Target="/ppt/slides/slide1.xml" Id="R5e0c981d854445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39640c2e0d44462" /><Relationship Type="http://schemas.openxmlformats.org/officeDocument/2006/relationships/slide" Target="/ppt/slides/slide2.xml" Id="Ra4c02684ce6c44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d2d9934acc14057" /><Relationship Type="http://schemas.openxmlformats.org/officeDocument/2006/relationships/slide" Target="/ppt/slides/slide3.xml" Id="Rbcc60509b9e64950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Datos sintéticos para comprobar conservación, edición y render final.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Datos sintéticos para comprobar conservación, edición y render final.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Datos sintéticos para comprobar conservación, edición y render final.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b40d0552924ad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b4aa8cd5004ad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65542b44df4b4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1ee8674b2a48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888148254e4f8f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87058fa4266145a7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97381da6745c1" /><Relationship Type="http://schemas.openxmlformats.org/officeDocument/2006/relationships/notesSlide" Target="/ppt/notesSlides/notesSlide1.xml" Id="Rccc1390268a842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37862cb154971" /><Relationship Type="http://schemas.openxmlformats.org/officeDocument/2006/relationships/notesSlide" Target="/ppt/notesSlides/notesSlide2.xml" Id="R5afdbcba5a634a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9d3418de84fd3" /><Relationship Type="http://schemas.openxmlformats.org/officeDocument/2006/relationships/notesSlide" Target="/ppt/notesSlides/notesSlide3.xml" Id="Rd64a444186b3473b" /><Relationship Type="http://schemas.openxmlformats.org/officeDocument/2006/relationships/chart" Target="/ppt/slides/charts/chart1.xml" Id="Rd3505313cb6e45a0" /></Relationships>
</file>

<file path=ppt/slides/charts/chart1.xml><?xml version="1.0" encoding="utf-8"?>
<c:chartSpace xmlns:a="http://schemas.openxmlformats.org/drawingml/2006/main" xmlns:c="http://schemas.openxmlformats.org/drawingml/2006/chart">
  <c:date1904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Importe (€)</c:v>
          </c:tx>
          <c:spPr>
            <a:solidFill xmlns:a="http://schemas.openxmlformats.org/drawingml/2006/main">
              <a:srgbClr val="17365D"/>
            </a:solidFill>
          </c:spPr>
          <c:invertIfNegative val="0"/>
          <c:cat>
            <c:strLit>
              <c:ptCount val="3"/>
              <c:pt idx="0">
                <c:v>Área Norte</c:v>
              </c:pt>
              <c:pt idx="1">
                <c:v>Piñón español</c:v>
              </c:pt>
              <c:pt idx="2">
                <c:v>Revisión técnica</c:v>
              </c:pt>
            </c:strLit>
          </c:cat>
          <c:val>
            <c:numLit>
              <c:formatCode>General</c:formatCode>
              <c:ptCount val="3"/>
              <c:pt idx="0">
                <c:v>1.25</c:v>
              </c:pt>
              <c:pt idx="1">
                <c:v>2.5</c:v>
              </c:pt>
              <c:pt idx="2">
                <c:v>3.75</c:v>
              </c:pt>
            </c:numLit>
          </c:val>
        </c:ser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0" name="Brand"/>
          <p:cNvSpPr txBox="1"/>
          <p:nvPr/>
        </p:nvSpPr>
        <p:spPr>
          <a:xfrm>
            <a:off x="540000" y="432000"/>
            <a:ext cx="1044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17365D"/>
                </a:solidFill>
                <a:latin typeface="Liberation Sans"/>
                <a:ea typeface="Liberation Sans"/>
              </a:rPr>
              <a:t>REGULAY · ÁREA TÉCNICA</a:t>
            </a:r>
          </a:p>
        </p:txBody>
      </p:sp>
      <p:sp>
        <p:nvSpPr>
          <p:cNvPr id="100001" name="Title"/>
          <p:cNvSpPr txBox="1"/>
          <p:nvPr/>
        </p:nvSpPr>
        <p:spPr>
          <a:xfrm>
            <a:off x="540000" y="972000"/>
            <a:ext cx="1080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7365D"/>
                </a:solidFill>
                <a:latin typeface="Liberation Sans"/>
                <a:ea typeface="Liberation Sans"/>
              </a:rPr>
              <a:t>Informe económico de España</a:t>
            </a:r>
          </a:p>
        </p:txBody>
      </p:sp>
      <p:sp>
        <p:nvSpPr>
          <p:cNvPr id="100002" name="Footer"/>
          <p:cNvSpPr txBox="1"/>
          <p:nvPr/>
        </p:nvSpPr>
        <p:spPr>
          <a:xfrm>
            <a:off x="540000" y="6048000"/>
            <a:ext cx="1044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17365D"/>
                </a:solidFill>
                <a:latin typeface="Liberation Sans"/>
                <a:ea typeface="Liberation Sans"/>
              </a:rPr>
              <a:t>1 · Informe sintético · 2026</a:t>
            </a:r>
          </a:p>
        </p:txBody>
      </p:sp>
      <p:sp>
        <p:nvSpPr>
          <p:cNvPr id="100009" name="Body"/>
          <p:cNvSpPr txBox="1"/>
          <p:nvPr/>
        </p:nvSpPr>
        <p:spPr>
          <a:xfrm>
            <a:off x="540000" y="2160000"/>
            <a:ext cx="10800000" cy="14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400">
                <a:solidFill>
                  <a:srgbClr val="17365D"/>
                </a:solidFill>
                <a:latin typeface="Liberation Sans"/>
                <a:ea typeface="Liberation Sans"/>
              </a:rPr>
              <a:t>Resumen de importes en euros. Año 2026: España, ñ, €, £ y $.</a:t>
            </a:r>
          </a:p>
        </p:txBody>
      </p:sp>
      <p:sp>
        <p:nvSpPr>
          <p:cNvPr id="100010" name="Total"/>
          <p:cNvSpPr txBox="1"/>
          <p:nvPr/>
        </p:nvSpPr>
        <p:spPr>
          <a:xfrm>
            <a:off x="540000" y="3960000"/>
            <a:ext cx="720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6000">
                <a:solidFill>
                  <a:srgbClr val="17365D"/>
                </a:solidFill>
                <a:latin typeface="Liberation Sans"/>
                <a:ea typeface="Liberation Sans"/>
              </a:rPr>
              <a:t>7,50 €</a:t>
            </a:r>
          </a:p>
        </p:txBody>
      </p:sp>
      <p:sp>
        <p:nvSpPr>
          <p:cNvPr id="100011" name="TotalLabel"/>
          <p:cNvSpPr txBox="1"/>
          <p:nvPr/>
        </p:nvSpPr>
        <p:spPr>
          <a:xfrm>
            <a:off x="540000" y="5112000"/>
            <a:ext cx="9000000" cy="46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>
                <a:solidFill>
                  <a:srgbClr val="17365D"/>
                </a:solidFill>
                <a:latin typeface="Liberation Sans"/>
                <a:ea typeface="Liberation Sans"/>
              </a:rPr>
              <a:t>Total de los tres conceptos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3" name="Brand"/>
          <p:cNvSpPr txBox="1"/>
          <p:nvPr/>
        </p:nvSpPr>
        <p:spPr>
          <a:xfrm>
            <a:off x="540000" y="432000"/>
            <a:ext cx="1044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17365D"/>
                </a:solidFill>
                <a:latin typeface="Liberation Sans"/>
                <a:ea typeface="Liberation Sans"/>
              </a:rPr>
              <a:t>REGULAY · ÁREA TÉCNICA</a:t>
            </a:r>
          </a:p>
        </p:txBody>
      </p:sp>
      <p:sp>
        <p:nvSpPr>
          <p:cNvPr id="100004" name="Title"/>
          <p:cNvSpPr txBox="1"/>
          <p:nvPr/>
        </p:nvSpPr>
        <p:spPr>
          <a:xfrm>
            <a:off x="540000" y="972000"/>
            <a:ext cx="1080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7365D"/>
                </a:solidFill>
                <a:latin typeface="Liberation Sans"/>
                <a:ea typeface="Liberation Sans"/>
              </a:rPr>
              <a:t>Importes por concepto</a:t>
            </a:r>
          </a:p>
        </p:txBody>
      </p:sp>
      <p:sp>
        <p:nvSpPr>
          <p:cNvPr id="100005" name="Footer"/>
          <p:cNvSpPr txBox="1"/>
          <p:nvPr/>
        </p:nvSpPr>
        <p:spPr>
          <a:xfrm>
            <a:off x="540000" y="6048000"/>
            <a:ext cx="1044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17365D"/>
                </a:solidFill>
                <a:latin typeface="Liberation Sans"/>
                <a:ea typeface="Liberation Sans"/>
              </a:rPr>
              <a:t>2 · Informe sintético · 2026</a:t>
            </a:r>
          </a:p>
        </p:txBody>
      </p:sp>
      <p:graphicFrame>
        <p:nvGraphicFramePr>
          <p:cNvPr id="100012" name="Table 1"/>
          <p:cNvGraphicFramePr/>
          <p:nvPr/>
        </p:nvGraphicFramePr>
        <p:xfrm>
          <a:off x="540000" y="2160000"/>
          <a:ext cx="10800000" cy="3060000"/>
        </p:xfrm>
        <a:graphic>
          <a:graphicData uri="http://schemas.openxmlformats.org/drawingml/2006/table">
            <a:tbl>
              <a:tblPr firstRow="1" bandRow="1"/>
              <a:tblGrid>
                <a:gridCol w="5400000"/>
                <a:gridCol w="5400000"/>
              </a:tblGrid>
              <a:tr h="612000"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Concepto</a:t>
                      </a:r>
                      <a:endParaRPr lang="en-US"/>
                    </a:p>
                  </a:txBody>
                  <a:tcPr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Importe (€)</a:t>
                      </a:r>
                      <a:endParaRPr lang="en-US"/>
                    </a:p>
                  </a:txBody>
                  <a:tcPr>
                    <a:solidFill>
                      <a:srgbClr val="D6E2EE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Área Norte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1,25 €</a:t>
                      </a:r>
                      <a:endParaRPr lang="en-US"/>
                    </a:p>
                  </a:txBody>
                  <a:tcPr/>
                </a:tc>
              </a:tr>
              <a:tr h="612000"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Piñón español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2,50 €</a:t>
                      </a:r>
                      <a:endParaRPr lang="en-US"/>
                    </a:p>
                  </a:txBody>
                  <a:tcPr/>
                </a:tc>
              </a:tr>
              <a:tr h="612000"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Revisión técnica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3,75 €</a:t>
                      </a:r>
                      <a:endParaRPr lang="en-US"/>
                    </a:p>
                  </a:txBody>
                  <a:tcPr/>
                </a:tc>
              </a:tr>
              <a:tr h="612000"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Total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7,50 €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0013" name="Body"/>
          <p:cNvSpPr txBox="1"/>
          <p:nvPr/>
        </p:nvSpPr>
        <p:spPr>
          <a:xfrm>
            <a:off x="540000" y="5400000"/>
            <a:ext cx="10800000" cy="64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>
                <a:solidFill>
                  <a:srgbClr val="17365D"/>
                </a:solidFill>
                <a:latin typeface="Liberation Sans"/>
                <a:ea typeface="Liberation Sans"/>
              </a:rPr>
              <a:t>Los importes proceden de los datos locales autorizados.</a:t>
            </a:r>
          </a:p>
        </p:txBody>
      </p:sp>
    </p:spTree>
  </p:cSld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6" name="Brand"/>
          <p:cNvSpPr txBox="1"/>
          <p:nvPr/>
        </p:nvSpPr>
        <p:spPr>
          <a:xfrm>
            <a:off x="540000" y="432000"/>
            <a:ext cx="1044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17365D"/>
                </a:solidFill>
                <a:latin typeface="Liberation Sans"/>
                <a:ea typeface="Liberation Sans"/>
              </a:rPr>
              <a:t>REGULAY · ÁREA TÉCNICA</a:t>
            </a:r>
          </a:p>
        </p:txBody>
      </p:sp>
      <p:sp>
        <p:nvSpPr>
          <p:cNvPr id="100007" name="Title"/>
          <p:cNvSpPr txBox="1"/>
          <p:nvPr/>
        </p:nvSpPr>
        <p:spPr>
          <a:xfrm>
            <a:off x="540000" y="972000"/>
            <a:ext cx="1080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7365D"/>
                </a:solidFill>
                <a:latin typeface="Liberation Sans"/>
                <a:ea typeface="Liberation Sans"/>
              </a:rPr>
              <a:t>Distribución y revisión</a:t>
            </a:r>
          </a:p>
        </p:txBody>
      </p:sp>
      <p:sp>
        <p:nvSpPr>
          <p:cNvPr id="100008" name="Footer"/>
          <p:cNvSpPr txBox="1"/>
          <p:nvPr/>
        </p:nvSpPr>
        <p:spPr>
          <a:xfrm>
            <a:off x="540000" y="6048000"/>
            <a:ext cx="1044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17365D"/>
                </a:solidFill>
                <a:latin typeface="Liberation Sans"/>
                <a:ea typeface="Liberation Sans"/>
              </a:rPr>
              <a:t>3 · Informe sintético · 2026</a:t>
            </a:r>
          </a:p>
        </p:txBody>
      </p:sp>
      <p:graphicFrame>
        <p:nvGraphicFramePr>
          <p:cNvPr id="100014" name="Chart 1"/>
          <p:cNvGraphicFramePr/>
          <p:nvPr/>
        </p:nvGraphicFramePr>
        <p:xfrm>
          <a:off x="540000" y="2160000"/>
          <a:ext cx="6480000" cy="3600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d3505313cb6e45a0"/>
          </a:graphicData>
        </a:graphic>
      </p:graphicFrame>
      <p:sp>
        <p:nvSpPr>
          <p:cNvPr id="100015" name="Body"/>
          <p:cNvSpPr txBox="1"/>
          <p:nvPr/>
        </p:nvSpPr>
        <p:spPr>
          <a:xfrm>
            <a:off x="7560000" y="2160000"/>
            <a:ext cx="3960000" cy="36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>
                <a:solidFill>
                  <a:srgbClr val="17365D"/>
                </a:solidFill>
                <a:latin typeface="Liberation Sans"/>
                <a:ea typeface="Liberation Sans"/>
              </a:rPr>
              <a:t>Los tres conceptos suman 7,50 €. El detalle editable se conserva en la tabla y en el gráfico.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OfficeCLI/1.0.155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2026-10-08T16:46:52.0000000Z</dcterms:created>
  <lastModifiedBy>OfficeCLI</lastModifiedBy>
  <dcterms:modified xsi:type="dcterms:W3CDTF">2026-10-08T16:46:53.2475436Z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1.0.155</vt:lpwstr>
  </op:property>
  <op:property fmtid="{D5CDD505-2E9C-101B-9397-08002B2CF9AE}" pid="3" name="OfficeCLI.LastModified">
    <vt:lpwstr xmlns:vt="http://schemas.openxmlformats.org/officeDocument/2006/docPropsVTypes">2026-10-08T16:47:17Z</vt:lpwstr>
  </op:property>
</op:Properties>
</file>